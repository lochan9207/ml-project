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ML prototype that flags students who may benefit from extra support. Say your name and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no at-risk label, so we defined one: G3 below 10. This is our assumption, not a universal standard. Classes are mildly imbalanced.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Outliers and zero grades are real students likely to be at risk, so removing them would hide the cases the model should catch. Cleaning removed no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set stays untouched until the final evaluation. Fixed random_state makes the results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for At Risk matters most: missing a student who needs help is the costly error. Add the confusion matrix image (figures/confusion_matrices.png) here if you want a visual. Do not claim these numbers hold at other institutions.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order: 1) introduce problem and data, 2) explain the label, 3) show Data charts, 4) compare models in Model evaluation using recall and F1, 5) enter a sample student in Predict (G1 5, G2 4, failures 2 gives At Risk), 6) finish on About and limitations. Add your screenshots here if the demo cannot run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responsible use. Then take questions: why G1 and G2 are allowed (known after period 2), why not accuracy alone (imbalanced classes), why 10 as threshold (project assumption).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285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YEAR PROJECT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98420"/>
            <a:ext cx="10883392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Academic Performance </a:t>
            </a:r>
            <a:r>
              <a:rPr lang="en-US" sz="4200" b="1" i="0" dirty="0">
                <a:solidFill>
                  <a:srgbClr val="5FD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Prediction</a:t>
            </a:r>
            <a:r>
              <a:rPr lang="en-US" sz="4200" b="1" i="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Using Machine Learning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97510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8C4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decision-support tool to guide supportive review, not a judgment about any student.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44805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[Your name] | [Roll no.] | [Department and college] | [Guide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Problem, dataset and risk label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4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Reviewing every student record by hand is slow. The model flags records that may need support.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174875"/>
            <a:ext cx="3380264" cy="2053590"/>
          </a:xfrm>
          <a:prstGeom prst="roundRect">
            <a:avLst>
              <a:gd name="adj" fmla="val 479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430780"/>
            <a:ext cx="295450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1880" y="3172460"/>
            <a:ext cx="295450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and 33 columns from the UCI Student Performance dataset (maths)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789" y="2174875"/>
            <a:ext cx="3380343" cy="2053590"/>
          </a:xfrm>
          <a:prstGeom prst="roundRect">
            <a:avLst>
              <a:gd name="adj" fmla="val 479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2430780"/>
            <a:ext cx="29545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G3 &lt; 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1694" y="3172460"/>
            <a:ext cx="295458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Risk means a final grade below 10 out of 20, a project-defined threshold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82" y="2174875"/>
            <a:ext cx="3380343" cy="2053590"/>
          </a:xfrm>
          <a:prstGeom prst="roundRect">
            <a:avLst>
              <a:gd name="adj" fmla="val 479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2430780"/>
            <a:ext cx="29545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265 / 130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51587" y="3172460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At Risk vs At Risk (67% and 33%), so recall and F1 matter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cleaning, leakage and privacy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6"/>
            <a:ext cx="5175250" cy="2199005"/>
          </a:xfrm>
          <a:prstGeom prst="roundRect">
            <a:avLst>
              <a:gd name="adj" fmla="val 447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2372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650" y="2225041"/>
            <a:ext cx="4730953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missing values, no duplicates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columns trimmed and checked for typos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grades within 0 to 20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high-absence students and 38 with G3 = 0 kept on purpose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567816"/>
            <a:ext cx="5175250" cy="2199005"/>
          </a:xfrm>
          <a:prstGeom prst="roundRect">
            <a:avLst>
              <a:gd name="adj" fmla="val 447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82372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Leakage and privacy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21450" y="2225041"/>
            <a:ext cx="4730953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G3 only creates the label, never an input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G1 and G2 are inputs: prediction after period 2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Sex and relationship status removed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input features, one-hot encoded and scaled in a Pipeline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6"/>
            <a:ext cx="2520950" cy="216789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98320"/>
            <a:ext cx="212173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46480" y="2397761"/>
            <a:ext cx="212173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6480" y="2758441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80/20, stratified, random_state 42: 316 train and 79 test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5675" y="1567816"/>
            <a:ext cx="2520950" cy="216789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6180" y="1798320"/>
            <a:ext cx="212173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26180" y="2397761"/>
            <a:ext cx="212173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26180" y="2758441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StandardScaler for numbers, OneHotEncoder for text 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5375" y="1567816"/>
            <a:ext cx="2520950" cy="216789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5880" y="1798320"/>
            <a:ext cx="212173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5880" y="2397761"/>
            <a:ext cx="212173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5880" y="2758441"/>
            <a:ext cx="212173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 Regression with balanced class weights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55075" y="1567816"/>
            <a:ext cx="2520950" cy="216789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85580" y="1798320"/>
            <a:ext cx="212173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085580" y="2397761"/>
            <a:ext cx="212173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85580" y="2758441"/>
            <a:ext cx="212173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Forest, 200 trees, balanced class weights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Results: Random Forest edges the baseline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4799"/>
          <a:ext cx="10556240" cy="2072640"/>
        </p:xfrm>
        <a:graphic>
          <a:graphicData uri="http://schemas.openxmlformats.org/drawingml/2006/table">
            <a:tbl>
              <a:tblPr/>
              <a:tblGrid>
                <a:gridCol w="2111248"/>
                <a:gridCol w="2111248"/>
                <a:gridCol w="2111248"/>
                <a:gridCol w="2111248"/>
                <a:gridCol w="2111248"/>
              </a:tblGrid>
              <a:tr h="58420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5FD0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 Risk class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5FD0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Precision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5FD0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Recall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5FD0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F1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5FD0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Accuracy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</a:tr>
              <a:tr h="904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Logistic Regression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0.81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0.85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0.83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0.89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Random Forest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0.85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0.88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0.91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127000" marB="1270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952239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set of 79 students, so the gap between models is small and may change with another split. Top factors: G2, G1, absences, past failures.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dashboard and testing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5175250" cy="2199005"/>
          </a:xfrm>
          <a:prstGeom prst="roundRect">
            <a:avLst>
              <a:gd name="adj" fmla="val 447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23721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tabs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650" y="2225039"/>
            <a:ext cx="4730953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Predict: input form, At Risk or Not At Risk, key factors, disclaimer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charts: grades, absences, class balance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evaluation: F1 and confusion matrices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and limitations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567814"/>
            <a:ext cx="5175250" cy="2199005"/>
          </a:xfrm>
          <a:prstGeom prst="roundRect">
            <a:avLst>
              <a:gd name="adj" fmla="val 447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823721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7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of 6 edge-case tests passed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21450" y="2225039"/>
            <a:ext cx="4730953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G1 and G2 both 0: error, no prediction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G1 and G2 gap: warning note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Absences capped at 75, noted above 40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1F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At Risk and Not At Risk cases behave as expected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39"/>
            <a:ext cx="5181600" cy="2195195"/>
          </a:xfrm>
          <a:prstGeom prst="roundRect">
            <a:avLst>
              <a:gd name="adj" fmla="val 4628"/>
            </a:avLst>
          </a:prstGeom>
          <a:solidFill>
            <a:srgbClr val="17283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18639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FD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1570" y="2219961"/>
            <a:ext cx="4741418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maths course at two schools; may not fit other institutions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threshold of 10 is an assumption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test set, and the model leans on G1 and G2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personal attributes remain in the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1564639"/>
            <a:ext cx="5181600" cy="2195195"/>
          </a:xfrm>
          <a:prstGeom prst="roundRect">
            <a:avLst>
              <a:gd name="adj" fmla="val 4628"/>
            </a:avLst>
          </a:prstGeom>
          <a:solidFill>
            <a:srgbClr val="17283F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818639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FD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16370" y="2219961"/>
            <a:ext cx="4741418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on data from other institutions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models without G1 and G2 for earlier warnings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Cross-validation and other models</a:t>
            </a:r>
            <a:endParaRPr lang="en-US" sz="1500" dirty="0"/>
          </a:p>
          <a:p>
            <a:pPr algn="l" marL="189230" indent="-18923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Per-student explanations such as SHAP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4064636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FD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predictions to guide supportive review, not to punish or label students.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Academic Performance Risk Prediction - Slides">
  <a:themeElements>
    <a:clrScheme name="Student Academic Performance Risk Prediction - Slides">
      <a:dk1>
        <a:srgbClr val="1B1F27"/>
      </a:dk1>
      <a:lt1>
        <a:srgbClr val="F6F4EE"/>
      </a:lt1>
      <a:dk2>
        <a:srgbClr val="525459"/>
      </a:dk2>
      <a:lt2>
        <a:srgbClr val="E0DFDA"/>
      </a:lt2>
      <a:accent1>
        <a:srgbClr val="1B7A63"/>
      </a:accent1>
      <a:accent2>
        <a:srgbClr val="5FD0B0"/>
      </a:accent2>
      <a:accent3>
        <a:srgbClr val="B8C4D2"/>
      </a:accent3>
      <a:accent4>
        <a:srgbClr val="9AA0A6"/>
      </a:accent4>
      <a:accent5>
        <a:srgbClr val="737477"/>
      </a:accent5>
      <a:accent6>
        <a:srgbClr val="939494"/>
      </a:accent6>
      <a:hlink>
        <a:srgbClr val="0563C1"/>
      </a:hlink>
      <a:folHlink>
        <a:srgbClr val="954F72"/>
      </a:folHlink>
    </a:clrScheme>
    <a:fontScheme name="Student Academic Performance Risk Prediction - Slides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Academic Performance Risk Prediction - Slides</dc:title>
  <dc:subject/>
  <dc:creator/>
  <cp:lastModifiedBy/>
  <cp:revision>1</cp:revision>
  <dcterms:created xsi:type="dcterms:W3CDTF">2026-10-29T08:06:24Z</dcterms:created>
  <dcterms:modified xsi:type="dcterms:W3CDTF">2026-10-29T08:06:24Z</dcterms:modified>
</cp:coreProperties>
</file>